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AppleSDGothicNeoH00" panose="02000503000000000000" pitchFamily="2" charset="-127"/>
      <p:regular r:id="rId12"/>
    </p:embeddedFont>
    <p:embeddedFont>
      <p:font typeface="AppleSDGothicNeoM00" panose="02000503000000000000" pitchFamily="2" charset="-127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285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3"/>
            <a:srcRect t="7647" b="7647"/>
            <a:stretch/>
          </a:blipFill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</a:path>
            </a:pathLst>
          </a:custGeom>
          <a:solidFill>
            <a:srgbClr val="000000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19" y="5473446"/>
            <a:ext cx="10728960" cy="9144"/>
          </a:xfrm>
          <a:custGeom>
            <a:avLst/>
            <a:gdLst/>
            <a:ahLst/>
            <a:cxnLst/>
            <a:rect l="l" t="t" r="r" b="b"/>
            <a:pathLst>
              <a:path w="10728960" h="9144">
                <a:moveTo>
                  <a:pt x="0" y="9144"/>
                </a:moveTo>
                <a:lnTo>
                  <a:pt x="0" y="0"/>
                </a:lnTo>
                <a:lnTo>
                  <a:pt x="10728960" y="0"/>
                </a:lnTo>
                <a:lnTo>
                  <a:pt x="10728960" y="9144"/>
                </a:lnTo>
                <a:lnTo>
                  <a:pt x="0" y="9144"/>
                </a:lnTo>
              </a:path>
            </a:pathLst>
          </a:custGeom>
          <a:solidFill>
            <a:srgbClr val="FFFFFF">
              <a:alpha val="50000"/>
            </a:srgbClr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23241"/>
            <a:ext cx="10728960" cy="3529224"/>
          </a:xfrm>
          <a:custGeom>
            <a:avLst/>
            <a:gdLst/>
            <a:ahLst/>
            <a:cxnLst/>
            <a:rect l="l" t="t" r="r" b="b"/>
            <a:pathLst>
              <a:path w="10728960" h="3529224">
                <a:moveTo>
                  <a:pt x="0" y="3529224"/>
                </a:moveTo>
                <a:lnTo>
                  <a:pt x="0" y="0"/>
                </a:lnTo>
                <a:lnTo>
                  <a:pt x="10728960" y="0"/>
                </a:lnTo>
                <a:lnTo>
                  <a:pt x="10728960" y="3529224"/>
                </a:lnTo>
                <a:lnTo>
                  <a:pt x="0" y="3529224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Seek: AI 혁신과 주식 시장의 미래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95836"/>
            <a:ext cx="1097280" cy="1097280"/>
          </a:xfrm>
          <a:custGeom>
            <a:avLst/>
            <a:gdLst/>
            <a:ahLst/>
            <a:cxnLst/>
            <a:rect l="l" t="t" r="r" b="b"/>
            <a:pathLst>
              <a:path w="1097280" h="1097280">
                <a:moveTo>
                  <a:pt x="0" y="1097280"/>
                </a:moveTo>
                <a:lnTo>
                  <a:pt x="0" y="0"/>
                </a:lnTo>
                <a:lnTo>
                  <a:pt x="1097280" y="0"/>
                </a:lnTo>
                <a:lnTo>
                  <a:pt x="1097280" y="1097280"/>
                </a:lnTo>
                <a:lnTo>
                  <a:pt x="0" y="109728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5712716"/>
            <a:ext cx="10728960" cy="823339"/>
          </a:xfrm>
          <a:custGeom>
            <a:avLst/>
            <a:gdLst/>
            <a:ahLst/>
            <a:cxnLst/>
            <a:rect l="l" t="t" r="r" b="b"/>
            <a:pathLst>
              <a:path w="10728960" h="823339">
                <a:moveTo>
                  <a:pt x="0" y="823339"/>
                </a:moveTo>
                <a:lnTo>
                  <a:pt x="0" y="0"/>
                </a:lnTo>
                <a:lnTo>
                  <a:pt x="10728960" y="0"/>
                </a:lnTo>
                <a:lnTo>
                  <a:pt x="10728960" y="823339"/>
                </a:lnTo>
                <a:lnTo>
                  <a:pt x="0" y="823339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Seek의 전략, 모델, 그리고 투자 접근법에 대한 종합 분석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743200" cy="6858000"/>
          </a:xfrm>
          <a:custGeom>
            <a:avLst/>
            <a:gdLst/>
            <a:ahLst/>
            <a:cxnLst/>
            <a:rect l="l" t="t" r="r" b="b"/>
            <a:pathLst>
              <a:path w="2743200" h="6858000">
                <a:moveTo>
                  <a:pt x="0" y="6858000"/>
                </a:moveTo>
                <a:lnTo>
                  <a:pt x="0" y="0"/>
                </a:lnTo>
                <a:lnTo>
                  <a:pt x="2743200" y="0"/>
                </a:lnTo>
                <a:lnTo>
                  <a:pt x="2743200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t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0" y="1157457"/>
            <a:ext cx="8321040" cy="7082"/>
          </a:xfrm>
          <a:custGeom>
            <a:avLst/>
            <a:gdLst/>
            <a:ahLst/>
            <a:cxnLst/>
            <a:rect l="l" t="t" r="r" b="b"/>
            <a:pathLst>
              <a:path w="8321040" h="7082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-7641" y="0"/>
            <a:ext cx="2750841" cy="6858000"/>
          </a:xfrm>
          <a:custGeom>
            <a:avLst/>
            <a:gdLst/>
            <a:ahLst/>
            <a:cxnLst/>
            <a:rect l="l" t="t" r="r" b="b"/>
            <a:pathLst>
              <a:path w="2750841" h="6858000">
                <a:moveTo>
                  <a:pt x="0" y="6858000"/>
                </a:moveTo>
                <a:lnTo>
                  <a:pt x="0" y="0"/>
                </a:lnTo>
                <a:lnTo>
                  <a:pt x="2750841" y="0"/>
                </a:lnTo>
                <a:lnTo>
                  <a:pt x="2750841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11840" y="1365505"/>
            <a:ext cx="640080" cy="4585080"/>
          </a:xfrm>
          <a:custGeom>
            <a:avLst/>
            <a:gdLst/>
            <a:ahLst/>
            <a:cxnLst/>
            <a:rect l="l" t="t" r="r" b="b"/>
            <a:pathLst>
              <a:path w="640080" h="4585080">
                <a:moveTo>
                  <a:pt x="0" y="4585080"/>
                </a:moveTo>
                <a:lnTo>
                  <a:pt x="0" y="0"/>
                </a:lnTo>
                <a:lnTo>
                  <a:pt x="640080" y="0"/>
                </a:lnTo>
                <a:lnTo>
                  <a:pt x="640080" y="4585080"/>
                </a:lnTo>
                <a:lnTo>
                  <a:pt x="0" y="458508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01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02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03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04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05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06</a:t>
            </a:r>
            <a:endParaRPr lang="en-US" sz="16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365505"/>
            <a:ext cx="7498080" cy="4585080"/>
          </a:xfrm>
          <a:custGeom>
            <a:avLst/>
            <a:gdLst/>
            <a:ahLst/>
            <a:cxnLst/>
            <a:rect l="l" t="t" r="r" b="b"/>
            <a:pathLst>
              <a:path w="7498080" h="4585080">
                <a:moveTo>
                  <a:pt x="0" y="4585080"/>
                </a:moveTo>
                <a:lnTo>
                  <a:pt x="0" y="0"/>
                </a:lnTo>
                <a:lnTo>
                  <a:pt x="7498080" y="0"/>
                </a:lnTo>
                <a:lnTo>
                  <a:pt x="7498080" y="4585080"/>
                </a:lnTo>
                <a:lnTo>
                  <a:pt x="0" y="458508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Seek의 핵심 전략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Seek의 R1 모델 공개가 주식 시장에 미치는 영향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 AI의 미래 전망 및 전략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 등장에 따른 주식 투자 전략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2025년 AI 트렌드 및 미래 전망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Seek와 다른 AI 모델 비교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결론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456883"/>
            <a:ext cx="8351520" cy="632277"/>
          </a:xfrm>
          <a:custGeom>
            <a:avLst/>
            <a:gdLst/>
            <a:ahLst/>
            <a:cxnLst/>
            <a:rect l="l" t="t" r="r" b="b"/>
            <a:pathLst>
              <a:path w="8351520" h="632277">
                <a:moveTo>
                  <a:pt x="0" y="632277"/>
                </a:moveTo>
                <a:lnTo>
                  <a:pt x="0" y="0"/>
                </a:lnTo>
                <a:lnTo>
                  <a:pt x="8351520" y="0"/>
                </a:lnTo>
                <a:lnTo>
                  <a:pt x="8351520" y="632277"/>
                </a:lnTo>
                <a:lnTo>
                  <a:pt x="0" y="632277"/>
                </a:lnTo>
              </a:path>
            </a:pathLst>
          </a:custGeom>
          <a:noFill/>
          <a:ln/>
        </p:spPr>
        <p:txBody>
          <a:bodyPr wrap="square" lIns="0" tIns="46800" rIns="90000" bIns="46800" rtlCol="0" anchor="b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55241" y="0"/>
            <a:ext cx="536759" cy="6858000"/>
          </a:xfrm>
          <a:custGeom>
            <a:avLst/>
            <a:gdLst/>
            <a:ahLst/>
            <a:cxnLst/>
            <a:rect l="l" t="t" r="r" b="b"/>
            <a:pathLst>
              <a:path w="536759" h="6858000">
                <a:moveTo>
                  <a:pt x="0" y="6858000"/>
                </a:moveTo>
                <a:lnTo>
                  <a:pt x="0" y="0"/>
                </a:lnTo>
                <a:lnTo>
                  <a:pt x="536759" y="0"/>
                </a:lnTo>
                <a:lnTo>
                  <a:pt x="536759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655243" y="0"/>
            <a:ext cx="536757" cy="6858000"/>
          </a:xfrm>
          <a:custGeom>
            <a:avLst/>
            <a:gdLst/>
            <a:ahLst/>
            <a:cxnLst/>
            <a:rect l="l" t="t" r="r" b="b"/>
            <a:pathLst>
              <a:path w="536757" h="6858000">
                <a:moveTo>
                  <a:pt x="0" y="6858000"/>
                </a:moveTo>
                <a:lnTo>
                  <a:pt x="0" y="0"/>
                </a:lnTo>
                <a:lnTo>
                  <a:pt x="536757" y="0"/>
                </a:lnTo>
                <a:lnTo>
                  <a:pt x="536757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78" y="1"/>
            <a:ext cx="7955280" cy="1034799"/>
          </a:xfrm>
          <a:custGeom>
            <a:avLst/>
            <a:gdLst/>
            <a:ahLst/>
            <a:cxnLst/>
            <a:rect l="l" t="t" r="r" b="b"/>
            <a:pathLst>
              <a:path w="7955280" h="1034799">
                <a:moveTo>
                  <a:pt x="0" y="1034799"/>
                </a:moveTo>
                <a:lnTo>
                  <a:pt x="0" y="0"/>
                </a:lnTo>
                <a:lnTo>
                  <a:pt x="7955280" y="0"/>
                </a:lnTo>
                <a:lnTo>
                  <a:pt x="7955280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Seek의 핵심 전략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737593" cy="548640"/>
          </a:xfrm>
          <a:custGeom>
            <a:avLst/>
            <a:gdLst/>
            <a:ahLst/>
            <a:cxnLst/>
            <a:rect l="l" t="t" r="r" b="b"/>
            <a:pathLst>
              <a:path w="7737593" h="548640">
                <a:moveTo>
                  <a:pt x="0" y="548640"/>
                </a:moveTo>
                <a:lnTo>
                  <a:pt x="0" y="0"/>
                </a:lnTo>
                <a:lnTo>
                  <a:pt x="7737593" y="0"/>
                </a:lnTo>
                <a:lnTo>
                  <a:pt x="7737593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91600" y="0"/>
            <a:ext cx="3200400" cy="6858000"/>
          </a:xfrm>
          <a:custGeom>
            <a:avLst/>
            <a:gdLst/>
            <a:ahLst/>
            <a:cxnLst/>
            <a:rect l="l" t="t" r="r" b="b"/>
            <a:pathLst>
              <a:path w="3200400" h="6858000">
                <a:moveTo>
                  <a:pt x="0" y="6858000"/>
                </a:moveTo>
                <a:lnTo>
                  <a:pt x="0" y="0"/>
                </a:lnTo>
                <a:lnTo>
                  <a:pt x="3200400" y="0"/>
                </a:lnTo>
                <a:lnTo>
                  <a:pt x="3200400" y="6858000"/>
                </a:lnTo>
                <a:lnTo>
                  <a:pt x="0" y="6858000"/>
                </a:lnTo>
              </a:path>
            </a:pathLst>
          </a:custGeom>
          <a:blipFill>
            <a:blip r:embed="rId4"/>
            <a:srcRect l="34451" r="34451"/>
            <a:stretch/>
          </a:blipFill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505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870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12352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05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7870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8704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강화 학습 중심의 학습 방식을 통해 지속적인 성능 개선을 추구합니다.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실제 환경에서의 피드백을 통해 모델을 최적화합니다.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8704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강화 학습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055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MLA(모델-학습-응용) 구조를 도입하여 체계적인 개발을 지원합니다.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모델의 학습과 응용을 통합하여 효율성을 높입니다.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5055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MLA 구조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2353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Mixture of Experts(MoE) 아키텍처를 활용하여 성능을 극대화합니다.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필요한 리소스를 효율적으로 분배하여 처리 속도를 향상시킵니다.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12353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MoE 아키텍처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8704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오픈 소스 전략을 통해 커뮤니티와 협력합니다.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투명한 개발 프로세스를 통해 신뢰를 구축합니다.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8704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오픈 소스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055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고성능 AI 모델을 저비용으로 개발하여 접근성을 높입니다.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비용 효율적인 솔루션을 통해 더 많은 사용자에게 서비스를 제공합니다.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055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저비용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649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2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891295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2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6354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2" y="1635480"/>
                </a:lnTo>
                <a:lnTo>
                  <a:pt x="0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9591" y="2123123"/>
            <a:ext cx="2520000" cy="3270960"/>
          </a:xfrm>
          <a:custGeom>
            <a:avLst/>
            <a:gdLst/>
            <a:ahLst/>
            <a:cxnLst/>
            <a:rect l="l" t="t" r="r" b="b"/>
            <a:pathLst>
              <a:path w="2520000" h="3270960">
                <a:moveTo>
                  <a:pt x="0" y="0"/>
                </a:moveTo>
                <a:lnTo>
                  <a:pt x="2113549" y="0"/>
                </a:lnTo>
                <a:lnTo>
                  <a:pt x="2520000" y="1635480"/>
                </a:lnTo>
                <a:lnTo>
                  <a:pt x="2113549" y="3270960"/>
                </a:lnTo>
                <a:lnTo>
                  <a:pt x="0" y="3270960"/>
                </a:lnTo>
                <a:lnTo>
                  <a:pt x="406452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79" y="1"/>
            <a:ext cx="10915441" cy="1034799"/>
          </a:xfrm>
          <a:custGeom>
            <a:avLst/>
            <a:gdLst/>
            <a:ahLst/>
            <a:cxnLst/>
            <a:rect l="l" t="t" r="r" b="b"/>
            <a:pathLst>
              <a:path w="10915441" h="1034799">
                <a:moveTo>
                  <a:pt x="0" y="1034799"/>
                </a:moveTo>
                <a:lnTo>
                  <a:pt x="0" y="0"/>
                </a:lnTo>
                <a:lnTo>
                  <a:pt x="10915441" y="0"/>
                </a:lnTo>
                <a:lnTo>
                  <a:pt x="10915441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Seek의 R1 모델 공개가 주식 시장에 미치는 영향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custGeom>
            <a:avLst/>
            <a:gdLst/>
            <a:ahLst/>
            <a:cxnLst/>
            <a:rect l="l" t="t" r="r" b="b"/>
            <a:pathLst>
              <a:path w="7877385" h="548640">
                <a:moveTo>
                  <a:pt x="0" y="548640"/>
                </a:moveTo>
                <a:lnTo>
                  <a:pt x="0" y="0"/>
                </a:lnTo>
                <a:lnTo>
                  <a:pt x="7877385" y="0"/>
                </a:lnTo>
                <a:lnTo>
                  <a:pt x="7877385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804" y="2123123"/>
            <a:ext cx="2532888" cy="3270960"/>
          </a:xfrm>
          <a:custGeom>
            <a:avLst/>
            <a:gdLst/>
            <a:ahLst/>
            <a:cxnLst/>
            <a:rect l="l" t="t" r="r" b="b"/>
            <a:pathLst>
              <a:path w="2532888" h="3270960">
                <a:moveTo>
                  <a:pt x="0" y="0"/>
                </a:moveTo>
                <a:lnTo>
                  <a:pt x="2124358" y="0"/>
                </a:lnTo>
                <a:lnTo>
                  <a:pt x="2532888" y="1635480"/>
                </a:lnTo>
                <a:lnTo>
                  <a:pt x="2124358" y="3270960"/>
                </a:lnTo>
                <a:lnTo>
                  <a:pt x="0" y="3270960"/>
                </a:lnTo>
                <a:lnTo>
                  <a:pt x="408531" y="163548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6804" y="338508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6"/>
                  <a:pt x="554885" y="714838"/>
                  <a:pt x="357464" y="714838"/>
                </a:cubicBezTo>
                <a:cubicBezTo>
                  <a:pt x="160042" y="714838"/>
                  <a:pt x="0" y="554816"/>
                  <a:pt x="0" y="357419"/>
                </a:cubicBezTo>
                <a:cubicBezTo>
                  <a:pt x="0" y="160022"/>
                  <a:pt x="160042" y="0"/>
                  <a:pt x="357464" y="0"/>
                </a:cubicBezTo>
                <a:cubicBezTo>
                  <a:pt x="554885" y="0"/>
                  <a:pt x="714927" y="160022"/>
                  <a:pt x="714927" y="357419"/>
                </a:cubicBezTo>
              </a:path>
            </a:pathLst>
          </a:custGeom>
          <a:solidFill>
            <a:srgbClr val="08387A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1399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6"/>
                  <a:pt x="554885" y="714838"/>
                  <a:pt x="357464" y="714838"/>
                </a:cubicBezTo>
                <a:cubicBezTo>
                  <a:pt x="160042" y="714838"/>
                  <a:pt x="0" y="554816"/>
                  <a:pt x="0" y="357419"/>
                </a:cubicBezTo>
                <a:cubicBezTo>
                  <a:pt x="0" y="160022"/>
                  <a:pt x="160042" y="0"/>
                  <a:pt x="357464" y="0"/>
                </a:cubicBezTo>
                <a:cubicBezTo>
                  <a:pt x="554885" y="0"/>
                  <a:pt x="714927" y="160022"/>
                  <a:pt x="714927" y="357419"/>
                </a:cubicBezTo>
              </a:path>
            </a:pathLst>
          </a:custGeom>
          <a:solidFill>
            <a:srgbClr val="08387A"/>
          </a:solidFill>
          <a:ln w="38100">
            <a:solidFill>
              <a:srgbClr val="0C53B7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95922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6"/>
                  <a:pt x="554885" y="714838"/>
                  <a:pt x="357464" y="714838"/>
                </a:cubicBezTo>
                <a:cubicBezTo>
                  <a:pt x="160042" y="714838"/>
                  <a:pt x="0" y="554816"/>
                  <a:pt x="0" y="357419"/>
                </a:cubicBezTo>
                <a:cubicBezTo>
                  <a:pt x="0" y="160022"/>
                  <a:pt x="160042" y="0"/>
                  <a:pt x="357464" y="0"/>
                </a:cubicBezTo>
                <a:cubicBezTo>
                  <a:pt x="554885" y="0"/>
                  <a:pt x="714927" y="160022"/>
                  <a:pt x="714927" y="357419"/>
                </a:cubicBezTo>
              </a:path>
            </a:pathLst>
          </a:custGeom>
          <a:solidFill>
            <a:srgbClr val="08387A"/>
          </a:solidFill>
          <a:ln w="38100">
            <a:solidFill>
              <a:srgbClr val="0C53B7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02031" y="3372330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6"/>
                  <a:pt x="554885" y="714838"/>
                  <a:pt x="357464" y="714838"/>
                </a:cubicBezTo>
                <a:cubicBezTo>
                  <a:pt x="160042" y="714838"/>
                  <a:pt x="0" y="554816"/>
                  <a:pt x="0" y="357419"/>
                </a:cubicBezTo>
                <a:cubicBezTo>
                  <a:pt x="0" y="160022"/>
                  <a:pt x="160042" y="0"/>
                  <a:pt x="357464" y="0"/>
                </a:cubicBezTo>
                <a:cubicBezTo>
                  <a:pt x="554885" y="0"/>
                  <a:pt x="714927" y="160022"/>
                  <a:pt x="714927" y="357419"/>
                </a:cubicBezTo>
              </a:path>
            </a:pathLst>
          </a:custGeom>
          <a:solidFill>
            <a:srgbClr val="08387A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0046" y="3373559"/>
            <a:ext cx="714927" cy="714838"/>
          </a:xfrm>
          <a:custGeom>
            <a:avLst/>
            <a:gdLst/>
            <a:ahLst/>
            <a:cxnLst/>
            <a:rect l="l" t="t" r="r" b="b"/>
            <a:pathLst>
              <a:path w="714927" h="714838">
                <a:moveTo>
                  <a:pt x="714927" y="357419"/>
                </a:moveTo>
                <a:cubicBezTo>
                  <a:pt x="714927" y="554816"/>
                  <a:pt x="554885" y="714838"/>
                  <a:pt x="357464" y="714838"/>
                </a:cubicBezTo>
                <a:cubicBezTo>
                  <a:pt x="160042" y="714838"/>
                  <a:pt x="0" y="554816"/>
                  <a:pt x="0" y="357419"/>
                </a:cubicBezTo>
                <a:cubicBezTo>
                  <a:pt x="0" y="160022"/>
                  <a:pt x="160042" y="0"/>
                  <a:pt x="357464" y="0"/>
                </a:cubicBezTo>
                <a:cubicBezTo>
                  <a:pt x="554885" y="0"/>
                  <a:pt x="714927" y="160022"/>
                  <a:pt x="714927" y="357419"/>
                </a:cubicBezTo>
              </a:path>
            </a:pathLst>
          </a:custGeom>
          <a:solidFill>
            <a:srgbClr val="08387A"/>
          </a:solidFill>
          <a:ln w="38100">
            <a:solidFill>
              <a:srgbClr val="1570EF"/>
            </a:solidFill>
          </a:ln>
          <a:effectLst>
            <a:outerShdw blurRad="47625" dist="381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64203" y="3106744"/>
            <a:ext cx="1124726" cy="1742396"/>
          </a:xfrm>
          <a:custGeom>
            <a:avLst/>
            <a:gdLst/>
            <a:ahLst/>
            <a:cxnLst/>
            <a:rect l="l" t="t" r="r" b="b"/>
            <a:pathLst>
              <a:path w="1124726" h="1742396">
                <a:moveTo>
                  <a:pt x="0" y="1742396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1742396"/>
                </a:lnTo>
                <a:lnTo>
                  <a:pt x="0" y="1742396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ctr"/>
          <a:lstStyle/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Seek의 R1 모델 공개로 AI 관련 주식이 급락했습니다.</a:t>
            </a:r>
            <a:endParaRPr lang="en-US" sz="1000" dirty="0"/>
          </a:p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투자자들은 새로운 기술의 등장에 따른 불안감을 느끼고 있습니다.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64203" y="2634873"/>
            <a:ext cx="1124726" cy="385467"/>
          </a:xfrm>
          <a:custGeom>
            <a:avLst/>
            <a:gdLst/>
            <a:ahLst/>
            <a:cxnLst/>
            <a:rect l="l" t="t" r="r" b="b"/>
            <a:pathLst>
              <a:path w="1124726" h="385467">
                <a:moveTo>
                  <a:pt x="0" y="385467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385467"/>
                </a:lnTo>
                <a:lnTo>
                  <a:pt x="0" y="385467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 주식 급락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02312" y="3106744"/>
            <a:ext cx="1124726" cy="1742396"/>
          </a:xfrm>
          <a:custGeom>
            <a:avLst/>
            <a:gdLst/>
            <a:ahLst/>
            <a:cxnLst/>
            <a:rect l="l" t="t" r="r" b="b"/>
            <a:pathLst>
              <a:path w="1124726" h="1742396">
                <a:moveTo>
                  <a:pt x="0" y="1742396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1742396"/>
                </a:lnTo>
                <a:lnTo>
                  <a:pt x="0" y="1742396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ctr"/>
          <a:lstStyle/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기업들의 시가총액이 눈에 띄게 줄어들고 있습니다.</a:t>
            </a:r>
            <a:endParaRPr lang="en-US" sz="1000" dirty="0"/>
          </a:p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시장 신뢰도가 하락하면서 자본 유출이 발생하고 있습니다.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02312" y="2634873"/>
            <a:ext cx="1124726" cy="385467"/>
          </a:xfrm>
          <a:custGeom>
            <a:avLst/>
            <a:gdLst/>
            <a:ahLst/>
            <a:cxnLst/>
            <a:rect l="l" t="t" r="r" b="b"/>
            <a:pathLst>
              <a:path w="1124726" h="385467">
                <a:moveTo>
                  <a:pt x="0" y="385467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385467"/>
                </a:lnTo>
                <a:lnTo>
                  <a:pt x="0" y="385467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시가총액 감소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30959" y="3106744"/>
            <a:ext cx="1124726" cy="1742396"/>
          </a:xfrm>
          <a:custGeom>
            <a:avLst/>
            <a:gdLst/>
            <a:ahLst/>
            <a:cxnLst/>
            <a:rect l="l" t="t" r="r" b="b"/>
            <a:pathLst>
              <a:path w="1124726" h="1742396">
                <a:moveTo>
                  <a:pt x="0" y="1742396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1742396"/>
                </a:lnTo>
                <a:lnTo>
                  <a:pt x="0" y="1742396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ctr"/>
          <a:lstStyle/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엔비디아는 R1 모델 공개로 인해 시장 점유율이 위협받고 있습니다.</a:t>
            </a:r>
            <a:endParaRPr lang="en-US" sz="1000" dirty="0"/>
          </a:p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경쟁력 있는 기술이 등장하면서 큰 타격을 입었습니다.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30959" y="2634873"/>
            <a:ext cx="1124726" cy="385467"/>
          </a:xfrm>
          <a:custGeom>
            <a:avLst/>
            <a:gdLst/>
            <a:ahLst/>
            <a:cxnLst/>
            <a:rect l="l" t="t" r="r" b="b"/>
            <a:pathLst>
              <a:path w="1124726" h="385467">
                <a:moveTo>
                  <a:pt x="0" y="385467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385467"/>
                </a:lnTo>
                <a:lnTo>
                  <a:pt x="0" y="385467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엔비디아 타격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06835" y="3106744"/>
            <a:ext cx="1124726" cy="1742396"/>
          </a:xfrm>
          <a:custGeom>
            <a:avLst/>
            <a:gdLst/>
            <a:ahLst/>
            <a:cxnLst/>
            <a:rect l="l" t="t" r="r" b="b"/>
            <a:pathLst>
              <a:path w="1124726" h="1742396">
                <a:moveTo>
                  <a:pt x="0" y="1742396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1742396"/>
                </a:lnTo>
                <a:lnTo>
                  <a:pt x="0" y="1742396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ctr"/>
          <a:lstStyle/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시장의 경쟁 구도가 급격히 변화하고 있습니다.</a:t>
            </a:r>
            <a:endParaRPr lang="en-US" sz="1000" dirty="0"/>
          </a:p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Seek의 기술이 기존 기업들에게 도전장을 내밀고 있습니다.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06835" y="2634873"/>
            <a:ext cx="1124726" cy="385467"/>
          </a:xfrm>
          <a:custGeom>
            <a:avLst/>
            <a:gdLst/>
            <a:ahLst/>
            <a:cxnLst/>
            <a:rect l="l" t="t" r="r" b="b"/>
            <a:pathLst>
              <a:path w="1124726" h="385467">
                <a:moveTo>
                  <a:pt x="0" y="385467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385467"/>
                </a:lnTo>
                <a:lnTo>
                  <a:pt x="0" y="385467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경쟁 구도 변화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12944" y="3105515"/>
            <a:ext cx="1124726" cy="1742396"/>
          </a:xfrm>
          <a:custGeom>
            <a:avLst/>
            <a:gdLst/>
            <a:ahLst/>
            <a:cxnLst/>
            <a:rect l="l" t="t" r="r" b="b"/>
            <a:pathLst>
              <a:path w="1124726" h="1742396">
                <a:moveTo>
                  <a:pt x="0" y="1742396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1742396"/>
                </a:lnTo>
                <a:lnTo>
                  <a:pt x="0" y="1742396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ctr"/>
          <a:lstStyle/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중국 기업들이 AI 기술력에서 두각을 나타내고 있습니다.</a:t>
            </a:r>
            <a:endParaRPr lang="en-US" sz="1000" dirty="0"/>
          </a:p>
          <a:p>
            <a:pPr marL="0" indent="0" algn="l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R1 모델 공개는 중국의 기술 발전을 더욱 부각시키고 있습니다.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12944" y="2633644"/>
            <a:ext cx="1124726" cy="385467"/>
          </a:xfrm>
          <a:custGeom>
            <a:avLst/>
            <a:gdLst/>
            <a:ahLst/>
            <a:cxnLst/>
            <a:rect l="l" t="t" r="r" b="b"/>
            <a:pathLst>
              <a:path w="1124726" h="385467">
                <a:moveTo>
                  <a:pt x="0" y="385467"/>
                </a:moveTo>
                <a:lnTo>
                  <a:pt x="0" y="0"/>
                </a:lnTo>
                <a:lnTo>
                  <a:pt x="1124726" y="0"/>
                </a:lnTo>
                <a:lnTo>
                  <a:pt x="1124726" y="385467"/>
                </a:lnTo>
                <a:lnTo>
                  <a:pt x="0" y="385467"/>
                </a:lnTo>
              </a:path>
            </a:pathLst>
          </a:custGeom>
          <a:noFill/>
          <a:ln/>
        </p:spPr>
        <p:txBody>
          <a:bodyPr wrap="square" lIns="0" tIns="0" rIns="0" bIns="0" numCol="1" spcCol="177800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중국 AI 기술력 입증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36759" cy="6858000"/>
          </a:xfrm>
          <a:custGeom>
            <a:avLst/>
            <a:gdLst/>
            <a:ahLst/>
            <a:cxnLst/>
            <a:rect l="l" t="t" r="r" b="b"/>
            <a:pathLst>
              <a:path w="536759" h="6858000">
                <a:moveTo>
                  <a:pt x="0" y="6858000"/>
                </a:moveTo>
                <a:lnTo>
                  <a:pt x="0" y="0"/>
                </a:lnTo>
                <a:lnTo>
                  <a:pt x="536759" y="0"/>
                </a:lnTo>
                <a:lnTo>
                  <a:pt x="536759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7" cy="6858000"/>
          </a:xfrm>
          <a:custGeom>
            <a:avLst/>
            <a:gdLst/>
            <a:ahLst/>
            <a:cxnLst/>
            <a:rect l="l" t="t" r="r" b="b"/>
            <a:pathLst>
              <a:path w="536757" h="6858000">
                <a:moveTo>
                  <a:pt x="0" y="6858000"/>
                </a:moveTo>
                <a:lnTo>
                  <a:pt x="0" y="0"/>
                </a:lnTo>
                <a:lnTo>
                  <a:pt x="536757" y="0"/>
                </a:lnTo>
                <a:lnTo>
                  <a:pt x="536757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37921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37921" y="1"/>
            <a:ext cx="7955280" cy="1034799"/>
          </a:xfrm>
          <a:custGeom>
            <a:avLst/>
            <a:gdLst/>
            <a:ahLst/>
            <a:cxnLst/>
            <a:rect l="l" t="t" r="r" b="b"/>
            <a:pathLst>
              <a:path w="7955280" h="1034799">
                <a:moveTo>
                  <a:pt x="0" y="1034799"/>
                </a:moveTo>
                <a:lnTo>
                  <a:pt x="0" y="0"/>
                </a:lnTo>
                <a:lnTo>
                  <a:pt x="7955280" y="0"/>
                </a:lnTo>
                <a:lnTo>
                  <a:pt x="7955280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 AI의 미래 전망 및 전략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747233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855609" y="6309360"/>
            <a:ext cx="6873352" cy="548640"/>
          </a:xfrm>
          <a:custGeom>
            <a:avLst/>
            <a:gdLst/>
            <a:ahLst/>
            <a:cxnLst/>
            <a:rect l="l" t="t" r="r" b="b"/>
            <a:pathLst>
              <a:path w="6873352" h="548640">
                <a:moveTo>
                  <a:pt x="0" y="548640"/>
                </a:moveTo>
                <a:lnTo>
                  <a:pt x="0" y="0"/>
                </a:lnTo>
                <a:lnTo>
                  <a:pt x="6873352" y="0"/>
                </a:lnTo>
                <a:lnTo>
                  <a:pt x="6873352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28734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0" y="0"/>
            <a:ext cx="3200400" cy="6858000"/>
          </a:xfrm>
          <a:custGeom>
            <a:avLst/>
            <a:gdLst/>
            <a:ahLst/>
            <a:cxnLst/>
            <a:rect l="l" t="t" r="r" b="b"/>
            <a:pathLst>
              <a:path w="3200400" h="6858000">
                <a:moveTo>
                  <a:pt x="0" y="6858000"/>
                </a:moveTo>
                <a:lnTo>
                  <a:pt x="0" y="0"/>
                </a:lnTo>
                <a:lnTo>
                  <a:pt x="3200400" y="0"/>
                </a:lnTo>
                <a:lnTo>
                  <a:pt x="3200400" y="6858000"/>
                </a:lnTo>
                <a:lnTo>
                  <a:pt x="0" y="6858000"/>
                </a:lnTo>
              </a:path>
            </a:pathLst>
          </a:custGeom>
          <a:blipFill>
            <a:blip r:embed="rId4"/>
            <a:srcRect l="34451" r="34451"/>
            <a:stretch/>
          </a:blipFill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42897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76547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10195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2897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6547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6547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하드웨어 의존도를 줄이기 위해 소프트웨어 최적화를 진행합니다.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클라우드 기반 솔루션을 통해 유연성을 높입니다.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76547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하드웨어 의존도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42898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다양한 산업 파트너와 협력하여 시너지를 창출합니다.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공동 연구 및 개발을 통해 혁신적인 솔루션을 제공합니다.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42898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산업 협력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10196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오픈 소스 프로젝트에 참여하여 커뮤니티와 협력합니다.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사용자 피드백을 반영하여 제품 개선에 힘씁니다.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10196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오픈 소스 전략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6547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비용 효율적인 솔루션을 제공하여 고객의 부담을 줄입니다.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가격 정책을 지속적으로 검토하여 시장에서의 경쟁력을 강화합니다.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6547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가격 경쟁력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42898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 AI는 최신 기술을 지속적으로 연구하고 개발하여 경쟁력을 유지합니다.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알고리즘의 성능을 향상시키기 위해 새로운 접근 방식을 도입합니다.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42898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기술 혁신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55241" y="0"/>
            <a:ext cx="536759" cy="6858000"/>
          </a:xfrm>
          <a:custGeom>
            <a:avLst/>
            <a:gdLst/>
            <a:ahLst/>
            <a:cxnLst/>
            <a:rect l="l" t="t" r="r" b="b"/>
            <a:pathLst>
              <a:path w="536759" h="6858000">
                <a:moveTo>
                  <a:pt x="0" y="6858000"/>
                </a:moveTo>
                <a:lnTo>
                  <a:pt x="0" y="0"/>
                </a:lnTo>
                <a:lnTo>
                  <a:pt x="536759" y="0"/>
                </a:lnTo>
                <a:lnTo>
                  <a:pt x="536759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655243" y="0"/>
            <a:ext cx="536757" cy="6858000"/>
          </a:xfrm>
          <a:custGeom>
            <a:avLst/>
            <a:gdLst/>
            <a:ahLst/>
            <a:cxnLst/>
            <a:rect l="l" t="t" r="r" b="b"/>
            <a:pathLst>
              <a:path w="536757" h="6858000">
                <a:moveTo>
                  <a:pt x="0" y="6858000"/>
                </a:moveTo>
                <a:lnTo>
                  <a:pt x="0" y="0"/>
                </a:lnTo>
                <a:lnTo>
                  <a:pt x="536757" y="0"/>
                </a:lnTo>
                <a:lnTo>
                  <a:pt x="536757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78" y="1"/>
            <a:ext cx="7955280" cy="1034799"/>
          </a:xfrm>
          <a:custGeom>
            <a:avLst/>
            <a:gdLst/>
            <a:ahLst/>
            <a:cxnLst/>
            <a:rect l="l" t="t" r="r" b="b"/>
            <a:pathLst>
              <a:path w="7955280" h="1034799">
                <a:moveTo>
                  <a:pt x="0" y="1034799"/>
                </a:moveTo>
                <a:lnTo>
                  <a:pt x="0" y="0"/>
                </a:lnTo>
                <a:lnTo>
                  <a:pt x="7955280" y="0"/>
                </a:lnTo>
                <a:lnTo>
                  <a:pt x="7955280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 등장에 따른 주식 투자 전략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737593" cy="548640"/>
          </a:xfrm>
          <a:custGeom>
            <a:avLst/>
            <a:gdLst/>
            <a:ahLst/>
            <a:cxnLst/>
            <a:rect l="l" t="t" r="r" b="b"/>
            <a:pathLst>
              <a:path w="7737593" h="548640">
                <a:moveTo>
                  <a:pt x="0" y="548640"/>
                </a:moveTo>
                <a:lnTo>
                  <a:pt x="0" y="0"/>
                </a:lnTo>
                <a:lnTo>
                  <a:pt x="7737593" y="0"/>
                </a:lnTo>
                <a:lnTo>
                  <a:pt x="7737593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91600" y="0"/>
            <a:ext cx="3200400" cy="6858000"/>
          </a:xfrm>
          <a:custGeom>
            <a:avLst/>
            <a:gdLst/>
            <a:ahLst/>
            <a:cxnLst/>
            <a:rect l="l" t="t" r="r" b="b"/>
            <a:pathLst>
              <a:path w="3200400" h="6858000">
                <a:moveTo>
                  <a:pt x="0" y="6858000"/>
                </a:moveTo>
                <a:lnTo>
                  <a:pt x="0" y="0"/>
                </a:lnTo>
                <a:lnTo>
                  <a:pt x="3200400" y="0"/>
                </a:lnTo>
                <a:lnTo>
                  <a:pt x="3200400" y="6858000"/>
                </a:lnTo>
                <a:lnTo>
                  <a:pt x="0" y="6858000"/>
                </a:lnTo>
              </a:path>
            </a:pathLst>
          </a:custGeom>
          <a:blipFill>
            <a:blip r:embed="rId4"/>
            <a:srcRect l="32500" r="32500"/>
            <a:stretch/>
          </a:blipFill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505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870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12352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05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7870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8704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주요 테크 기업의 실적을 분석하여 투자 결정을 지원하고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시장 점유율 변화 추세를 파악하여 전략을 조정하고 있습니다.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8704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테크 주식 분석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055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나스닥 지수는 기술주 중심으로 지속적인 상승세를 보이고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기술주 회복이 시장 전반에 긍정적인 영향을 미치고 있습니다.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5055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나스닥 동향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2353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반도체 공급망의 안정화가 필요하며, 이는 글로벌 경제에 큰 영향을 미칩니다.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차세대 반도체 기술 개발을 통해 경쟁력을 유지하고 있습니다.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12353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반도체 산업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8704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스타트업에 대한 투자를 통해 혁신적인 기술을 확보하고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기존 기업의 AI 통합 전략을 지원하여 시장 경쟁력을 높이고 있습니다.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8704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 기업 투자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055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기술의 선두주자로서의 입지를 더욱 강화하기 위해 연구개발에 집중하고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데이터 센터 및 클라우드 서비스의 확장을 통해 새로운 수익원을 창출하고 있습니다.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055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엔비디아 전략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55241" y="0"/>
            <a:ext cx="536759" cy="6858000"/>
          </a:xfrm>
          <a:custGeom>
            <a:avLst/>
            <a:gdLst/>
            <a:ahLst/>
            <a:cxnLst/>
            <a:rect l="l" t="t" r="r" b="b"/>
            <a:pathLst>
              <a:path w="536759" h="6858000">
                <a:moveTo>
                  <a:pt x="0" y="6858000"/>
                </a:moveTo>
                <a:lnTo>
                  <a:pt x="0" y="0"/>
                </a:lnTo>
                <a:lnTo>
                  <a:pt x="536759" y="0"/>
                </a:lnTo>
                <a:lnTo>
                  <a:pt x="536759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655243" y="0"/>
            <a:ext cx="536757" cy="6858000"/>
          </a:xfrm>
          <a:custGeom>
            <a:avLst/>
            <a:gdLst/>
            <a:ahLst/>
            <a:cxnLst/>
            <a:rect l="l" t="t" r="r" b="b"/>
            <a:pathLst>
              <a:path w="536757" h="6858000">
                <a:moveTo>
                  <a:pt x="0" y="6858000"/>
                </a:moveTo>
                <a:lnTo>
                  <a:pt x="0" y="0"/>
                </a:lnTo>
                <a:lnTo>
                  <a:pt x="536757" y="0"/>
                </a:lnTo>
                <a:lnTo>
                  <a:pt x="536757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78" y="1"/>
            <a:ext cx="7955280" cy="1034799"/>
          </a:xfrm>
          <a:custGeom>
            <a:avLst/>
            <a:gdLst/>
            <a:ahLst/>
            <a:cxnLst/>
            <a:rect l="l" t="t" r="r" b="b"/>
            <a:pathLst>
              <a:path w="7955280" h="1034799">
                <a:moveTo>
                  <a:pt x="0" y="1034799"/>
                </a:moveTo>
                <a:lnTo>
                  <a:pt x="0" y="0"/>
                </a:lnTo>
                <a:lnTo>
                  <a:pt x="7955280" y="0"/>
                </a:lnTo>
                <a:lnTo>
                  <a:pt x="7955280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2025년 AI 트렌드 및 미래 전망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737593" cy="548640"/>
          </a:xfrm>
          <a:custGeom>
            <a:avLst/>
            <a:gdLst/>
            <a:ahLst/>
            <a:cxnLst/>
            <a:rect l="l" t="t" r="r" b="b"/>
            <a:pathLst>
              <a:path w="7737593" h="548640">
                <a:moveTo>
                  <a:pt x="0" y="548640"/>
                </a:moveTo>
                <a:lnTo>
                  <a:pt x="0" y="0"/>
                </a:lnTo>
                <a:lnTo>
                  <a:pt x="7737593" y="0"/>
                </a:lnTo>
                <a:lnTo>
                  <a:pt x="7737593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91600" y="0"/>
            <a:ext cx="3200400" cy="6858000"/>
          </a:xfrm>
          <a:custGeom>
            <a:avLst/>
            <a:gdLst/>
            <a:ahLst/>
            <a:cxnLst/>
            <a:rect l="l" t="t" r="r" b="b"/>
            <a:pathLst>
              <a:path w="3200400" h="6858000">
                <a:moveTo>
                  <a:pt x="0" y="6858000"/>
                </a:moveTo>
                <a:lnTo>
                  <a:pt x="0" y="0"/>
                </a:lnTo>
                <a:lnTo>
                  <a:pt x="3200400" y="0"/>
                </a:lnTo>
                <a:lnTo>
                  <a:pt x="3200400" y="6858000"/>
                </a:lnTo>
                <a:lnTo>
                  <a:pt x="0" y="6858000"/>
                </a:lnTo>
              </a:path>
            </a:pathLst>
          </a:custGeom>
          <a:blipFill>
            <a:blip r:embed="rId4"/>
            <a:srcRect l="34451" r="34451"/>
            <a:stretch/>
          </a:blipFill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505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78704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12352" y="141404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505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78704" y="3877327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0" y="365760"/>
                </a:moveTo>
                <a:lnTo>
                  <a:pt x="0" y="0"/>
                </a:lnTo>
                <a:lnTo>
                  <a:pt x="365760" y="0"/>
                </a:lnTo>
                <a:lnTo>
                  <a:pt x="365760" y="365760"/>
                </a:lnTo>
                <a:lnTo>
                  <a:pt x="0" y="365760"/>
                </a:lnTo>
              </a:path>
            </a:pathLst>
          </a:cu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78704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기술을 활용한 보안 솔루션이 증가하고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이들은 사이버 공격을 실시간으로 탐지하고 대응하는 데 도움을 줍니다.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8704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 보안 강화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5055" y="4765457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멀티모달 AI는 텍스트, 이미지, 음성을 통합하여 더 풍부한 사용자 경험을 제공합니다.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이 기술은 다양한 데이터 소스를 활용하여 더 정확한 결과를 도출합니다.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5055" y="4316727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멀티모달 AI 진화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12353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에이전트는 고객 서비스 및 지원 분야에서 중요한 역할을 합니다.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이들은 24시간 운영되며, 사용자 요구에 즉각적으로 대응할 수 있습니다.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12353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 에이전트 부상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8704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생성형 AI는 콘텐츠 제작, 디자인, 음악 등 다양한 분야에서 혁신을 이끌고 있습니다.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이 기술은 창의적인 작업을 자동화하여 생산성을 높입니다.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78704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생성형 AI 발전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5055" y="2302178"/>
            <a:ext cx="2377440" cy="1371600"/>
          </a:xfrm>
          <a:custGeom>
            <a:avLst/>
            <a:gdLst/>
            <a:ahLst/>
            <a:cxnLst/>
            <a:rect l="l" t="t" r="r" b="b"/>
            <a:pathLst>
              <a:path w="2377440" h="1371600">
                <a:moveTo>
                  <a:pt x="0" y="137160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1371600"/>
                </a:lnTo>
                <a:lnTo>
                  <a:pt x="0" y="137160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AI 기술이 일상 생활에 깊숙이 통합되어 사용자 경험을 향상시킵니다.</a:t>
            </a:r>
            <a:endParaRPr lang="en-US" sz="1050" dirty="0"/>
          </a:p>
          <a:p>
            <a:pPr marL="0" indent="0" algn="l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스마트 홈, 개인 비서 등 다양한 분야에서 AI의 활용이 증가합니다.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5055" y="1853448"/>
            <a:ext cx="2377440" cy="365760"/>
          </a:xfrm>
          <a:custGeom>
            <a:avLst/>
            <a:gdLst/>
            <a:ahLst/>
            <a:cxnLst/>
            <a:rect l="l" t="t" r="r" b="b"/>
            <a:pathLst>
              <a:path w="2377440" h="365760">
                <a:moveTo>
                  <a:pt x="0" y="365760"/>
                </a:moveTo>
                <a:lnTo>
                  <a:pt x="0" y="0"/>
                </a:lnTo>
                <a:lnTo>
                  <a:pt x="2377440" y="0"/>
                </a:lnTo>
                <a:lnTo>
                  <a:pt x="2377440" y="365760"/>
                </a:lnTo>
                <a:lnTo>
                  <a:pt x="0" y="365760"/>
                </a:lnTo>
              </a:path>
            </a:pathLst>
          </a:cu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AI의 일상화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996" y="2143743"/>
            <a:ext cx="0" cy="3657600"/>
          </a:xfrm>
          <a:custGeom>
            <a:avLst/>
            <a:gdLst/>
            <a:ahLst/>
            <a:cxnLst/>
            <a:rect l="l" t="t" r="r" b="b"/>
            <a:pathLst>
              <a:path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2143743"/>
            <a:ext cx="10911840" cy="0"/>
          </a:xfrm>
          <a:custGeom>
            <a:avLst/>
            <a:gdLst/>
            <a:ahLst/>
            <a:cxnLst/>
            <a:rect l="l" t="t" r="r" b="b"/>
            <a:pathLst>
              <a:path w="10911840">
                <a:moveTo>
                  <a:pt x="0" y="0"/>
                </a:moveTo>
                <a:lnTo>
                  <a:pt x="10911840" y="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l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79" y="1"/>
            <a:ext cx="10915441" cy="1034799"/>
          </a:xfrm>
          <a:custGeom>
            <a:avLst/>
            <a:gdLst/>
            <a:ahLst/>
            <a:cxnLst/>
            <a:rect l="l" t="t" r="r" b="b"/>
            <a:pathLst>
              <a:path w="10915441" h="1034799">
                <a:moveTo>
                  <a:pt x="0" y="1034799"/>
                </a:moveTo>
                <a:lnTo>
                  <a:pt x="0" y="0"/>
                </a:lnTo>
                <a:lnTo>
                  <a:pt x="10915441" y="0"/>
                </a:lnTo>
                <a:lnTo>
                  <a:pt x="10915441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Seek와 다른 AI 모델 비교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7765" y="6309360"/>
            <a:ext cx="7877385" cy="548640"/>
          </a:xfrm>
          <a:custGeom>
            <a:avLst/>
            <a:gdLst/>
            <a:ahLst/>
            <a:cxnLst/>
            <a:rect l="l" t="t" r="r" b="b"/>
            <a:pathLst>
              <a:path w="7877385" h="548640">
                <a:moveTo>
                  <a:pt x="0" y="548640"/>
                </a:moveTo>
                <a:lnTo>
                  <a:pt x="0" y="0"/>
                </a:lnTo>
                <a:lnTo>
                  <a:pt x="7877385" y="0"/>
                </a:lnTo>
                <a:lnTo>
                  <a:pt x="7877385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5996" y="2132168"/>
            <a:ext cx="5455923" cy="3715999"/>
          </a:xfrm>
          <a:custGeom>
            <a:avLst/>
            <a:gdLst/>
            <a:ahLst/>
            <a:cxnLst/>
            <a:rect l="l" t="t" r="r" b="b"/>
            <a:pathLst>
              <a:path w="5455923" h="3715999">
                <a:moveTo>
                  <a:pt x="0" y="3715999"/>
                </a:moveTo>
                <a:lnTo>
                  <a:pt x="0" y="0"/>
                </a:lnTo>
                <a:lnTo>
                  <a:pt x="5455923" y="0"/>
                </a:lnTo>
                <a:lnTo>
                  <a:pt x="5455923" y="3715999"/>
                </a:lnTo>
                <a:lnTo>
                  <a:pt x="0" y="3715999"/>
                </a:lnTo>
              </a:path>
            </a:pathLst>
          </a:custGeom>
          <a:noFill/>
          <a:ln/>
        </p:spPr>
        <p:txBody>
          <a:bodyPr wrap="square" lIns="182880" tIns="182880" rIns="457200" bIns="182880" rtlCol="0" anchor="t"/>
          <a:lstStyle/>
          <a:p>
            <a:pPr marL="182880" indent="-182880" algn="l">
              <a:lnSpc>
                <a:spcPct val="100000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비용이 낮지만 오픈 소스가 아니며, 사용자가 직접 수정할 수 없습니다.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멀티모달 지원이 제한적이며, 주로 텍스트 데이터에 최적화되어 있습니다.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79" y="2143743"/>
            <a:ext cx="5455920" cy="3704427"/>
          </a:xfrm>
          <a:custGeom>
            <a:avLst/>
            <a:gdLst/>
            <a:ahLst/>
            <a:cxnLst/>
            <a:rect l="l" t="t" r="r" b="b"/>
            <a:pathLst>
              <a:path w="5455920" h="3704427">
                <a:moveTo>
                  <a:pt x="0" y="3704427"/>
                </a:moveTo>
                <a:lnTo>
                  <a:pt x="0" y="0"/>
                </a:lnTo>
                <a:lnTo>
                  <a:pt x="5455920" y="0"/>
                </a:lnTo>
                <a:lnTo>
                  <a:pt x="5455920" y="3704427"/>
                </a:lnTo>
                <a:lnTo>
                  <a:pt x="0" y="3704427"/>
                </a:lnTo>
              </a:path>
            </a:pathLst>
          </a:custGeom>
          <a:noFill/>
          <a:ln/>
        </p:spPr>
        <p:txBody>
          <a:bodyPr wrap="square" lIns="182880" tIns="182880" rIns="457200" bIns="182880" rtlCol="0" anchor="t"/>
          <a:lstStyle/>
          <a:p>
            <a:pPr marL="182880" indent="-182880" algn="l">
              <a:lnSpc>
                <a:spcPct val="100000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오픈 소스 모델이며, 텍스트, 이미지, 비디오 등 다양한 데이터 소스를 지원합니다.</a:t>
            </a:r>
            <a:endParaRPr lang="en-US" sz="1400" dirty="0"/>
          </a:p>
          <a:p>
            <a:pPr marL="182880" indent="-182880" algn="l">
              <a:lnSpc>
                <a:spcPct val="100000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사용자 맞춤형 학습이 가능하여, 특정 요구에 맞춘 모델을 생성할 수 있습니다.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0" y="1605870"/>
            <a:ext cx="5455923" cy="526298"/>
          </a:xfrm>
          <a:custGeom>
            <a:avLst/>
            <a:gdLst/>
            <a:ahLst/>
            <a:cxnLst/>
            <a:rect l="l" t="t" r="r" b="b"/>
            <a:pathLst>
              <a:path w="5455923" h="526298">
                <a:moveTo>
                  <a:pt x="0" y="526298"/>
                </a:moveTo>
                <a:lnTo>
                  <a:pt x="0" y="0"/>
                </a:lnTo>
                <a:lnTo>
                  <a:pt x="5455923" y="0"/>
                </a:lnTo>
                <a:lnTo>
                  <a:pt x="5455923" y="526298"/>
                </a:lnTo>
                <a:lnTo>
                  <a:pt x="0" y="5262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137160" rIns="0" bIns="13716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경쟁 AI 모델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79" y="1605870"/>
            <a:ext cx="5455920" cy="526298"/>
          </a:xfrm>
          <a:custGeom>
            <a:avLst/>
            <a:gdLst/>
            <a:ahLst/>
            <a:cxnLst/>
            <a:rect l="l" t="t" r="r" b="b"/>
            <a:pathLst>
              <a:path w="5455920" h="526298">
                <a:moveTo>
                  <a:pt x="0" y="526298"/>
                </a:moveTo>
                <a:lnTo>
                  <a:pt x="0" y="0"/>
                </a:lnTo>
                <a:lnTo>
                  <a:pt x="5455920" y="0"/>
                </a:lnTo>
                <a:lnTo>
                  <a:pt x="5455920" y="526298"/>
                </a:lnTo>
                <a:lnTo>
                  <a:pt x="0" y="5262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137160" rIns="0" bIns="13716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 R1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4"/>
                  <a:pt x="188034" y="0"/>
                  <a:pt x="419986" y="0"/>
                </a:cubicBezTo>
                <a:cubicBezTo>
                  <a:pt x="651938" y="0"/>
                  <a:pt x="839972" y="188034"/>
                  <a:pt x="839972" y="419986"/>
                </a:cubicBezTo>
                <a:cubicBezTo>
                  <a:pt x="839972" y="651938"/>
                  <a:pt x="651938" y="839972"/>
                  <a:pt x="419986" y="839972"/>
                </a:cubicBezTo>
                <a:cubicBezTo>
                  <a:pt x="188034" y="839972"/>
                  <a:pt x="0" y="651938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641" y="0"/>
            <a:ext cx="536759" cy="6858000"/>
          </a:xfrm>
          <a:custGeom>
            <a:avLst/>
            <a:gdLst/>
            <a:ahLst/>
            <a:cxnLst/>
            <a:rect l="l" t="t" r="r" b="b"/>
            <a:pathLst>
              <a:path w="536759" h="6858000">
                <a:moveTo>
                  <a:pt x="0" y="6858000"/>
                </a:moveTo>
                <a:lnTo>
                  <a:pt x="0" y="0"/>
                </a:lnTo>
                <a:lnTo>
                  <a:pt x="536759" y="0"/>
                </a:lnTo>
                <a:lnTo>
                  <a:pt x="536759" y="6858000"/>
                </a:lnTo>
                <a:lnTo>
                  <a:pt x="0" y="6858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-7640" y="0"/>
            <a:ext cx="536757" cy="6858000"/>
          </a:xfrm>
          <a:custGeom>
            <a:avLst/>
            <a:gdLst/>
            <a:ahLst/>
            <a:cxnLst/>
            <a:rect l="l" t="t" r="r" b="b"/>
            <a:pathLst>
              <a:path w="536757" h="6858000">
                <a:moveTo>
                  <a:pt x="0" y="6858000"/>
                </a:moveTo>
                <a:lnTo>
                  <a:pt x="0" y="0"/>
                </a:lnTo>
                <a:lnTo>
                  <a:pt x="536757" y="0"/>
                </a:lnTo>
                <a:lnTo>
                  <a:pt x="536757" y="6858000"/>
                </a:lnTo>
                <a:lnTo>
                  <a:pt x="0" y="6858000"/>
                </a:lnTo>
              </a:path>
            </a:pathLst>
          </a:custGeom>
          <a:blipFill>
            <a:blip r:embed="rId3"/>
            <a:srcRect r="80488"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49028" y="1164617"/>
            <a:ext cx="10572412" cy="10672"/>
          </a:xfrm>
          <a:custGeom>
            <a:avLst/>
            <a:gdLst/>
            <a:ahLst/>
            <a:cxnLst/>
            <a:rect l="l" t="t" r="r" b="b"/>
            <a:pathLst>
              <a:path w="10572412" h="10672">
                <a:moveTo>
                  <a:pt x="0" y="0"/>
                </a:moveTo>
                <a:lnTo>
                  <a:pt x="10572412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8494" y="6318000"/>
            <a:ext cx="108375" cy="540000"/>
          </a:xfrm>
          <a:custGeom>
            <a:avLst/>
            <a:gdLst/>
            <a:ahLst/>
            <a:cxnLst/>
            <a:rect l="l" t="t" r="r" b="b"/>
            <a:pathLst>
              <a:path w="108375" h="540000">
                <a:moveTo>
                  <a:pt x="0" y="540000"/>
                </a:moveTo>
                <a:lnTo>
                  <a:pt x="0" y="0"/>
                </a:lnTo>
                <a:lnTo>
                  <a:pt x="108375" y="0"/>
                </a:lnTo>
                <a:lnTo>
                  <a:pt x="108375" y="540000"/>
                </a:lnTo>
                <a:lnTo>
                  <a:pt x="0" y="54000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flipH="1" flipV="1">
            <a:off x="4602243" y="2069542"/>
            <a:ext cx="202752" cy="246937"/>
          </a:xfrm>
          <a:custGeom>
            <a:avLst/>
            <a:gdLst/>
            <a:ahLst/>
            <a:cxnLst/>
            <a:rect l="l" t="t" r="r" b="b"/>
            <a:pathLst>
              <a:path w="202752" h="246937">
                <a:moveTo>
                  <a:pt x="0" y="246937"/>
                </a:moveTo>
                <a:lnTo>
                  <a:pt x="202752" y="246937"/>
                </a:lnTo>
                <a:lnTo>
                  <a:pt x="0" y="0"/>
                </a:lnTo>
                <a:lnTo>
                  <a:pt x="0" y="246937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 flipH="1" flipV="1">
            <a:off x="8240206" y="2069542"/>
            <a:ext cx="202752" cy="246937"/>
          </a:xfrm>
          <a:custGeom>
            <a:avLst/>
            <a:gdLst/>
            <a:ahLst/>
            <a:cxnLst/>
            <a:rect l="l" t="t" r="r" b="b"/>
            <a:pathLst>
              <a:path w="202752" h="246937">
                <a:moveTo>
                  <a:pt x="0" y="246937"/>
                </a:moveTo>
                <a:lnTo>
                  <a:pt x="202752" y="246937"/>
                </a:lnTo>
                <a:lnTo>
                  <a:pt x="0" y="0"/>
                </a:lnTo>
                <a:lnTo>
                  <a:pt x="0" y="246937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 flipH="1" flipV="1">
            <a:off x="2609987" y="4430238"/>
            <a:ext cx="202752" cy="246937"/>
          </a:xfrm>
          <a:custGeom>
            <a:avLst/>
            <a:gdLst/>
            <a:ahLst/>
            <a:cxnLst/>
            <a:rect l="l" t="t" r="r" b="b"/>
            <a:pathLst>
              <a:path w="202752" h="246937">
                <a:moveTo>
                  <a:pt x="0" y="246937"/>
                </a:moveTo>
                <a:lnTo>
                  <a:pt x="202752" y="246937"/>
                </a:lnTo>
                <a:lnTo>
                  <a:pt x="0" y="0"/>
                </a:lnTo>
                <a:lnTo>
                  <a:pt x="0" y="246937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 flipH="1" flipV="1">
            <a:off x="6270564" y="4430238"/>
            <a:ext cx="202752" cy="246937"/>
          </a:xfrm>
          <a:custGeom>
            <a:avLst/>
            <a:gdLst/>
            <a:ahLst/>
            <a:cxnLst/>
            <a:rect l="l" t="t" r="r" b="b"/>
            <a:pathLst>
              <a:path w="202752" h="246937">
                <a:moveTo>
                  <a:pt x="0" y="246937"/>
                </a:moveTo>
                <a:lnTo>
                  <a:pt x="202752" y="246937"/>
                </a:lnTo>
                <a:lnTo>
                  <a:pt x="0" y="0"/>
                </a:lnTo>
                <a:lnTo>
                  <a:pt x="0" y="246937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 flipH="1" flipV="1">
            <a:off x="949028" y="2069542"/>
            <a:ext cx="202752" cy="246937"/>
          </a:xfrm>
          <a:custGeom>
            <a:avLst/>
            <a:gdLst/>
            <a:ahLst/>
            <a:cxnLst/>
            <a:rect l="l" t="t" r="r" b="b"/>
            <a:pathLst>
              <a:path w="202752" h="246937">
                <a:moveTo>
                  <a:pt x="0" y="246937"/>
                </a:moveTo>
                <a:lnTo>
                  <a:pt x="202752" y="246937"/>
                </a:lnTo>
                <a:lnTo>
                  <a:pt x="0" y="0"/>
                </a:lnTo>
                <a:lnTo>
                  <a:pt x="0" y="246937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90000" tIns="46800" rIns="90000" bIns="46800" rtlCol="0" anchor="ctr"/>
          <a:lstStyle/>
          <a:p>
            <a:pPr marL="0" indent="0" algn="ctr">
              <a:lnSpc>
                <a:spcPct val="83333"/>
              </a:lnSpc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9995" y="1"/>
            <a:ext cx="10605525" cy="1034799"/>
          </a:xfrm>
          <a:custGeom>
            <a:avLst/>
            <a:gdLst/>
            <a:ahLst/>
            <a:cxnLst/>
            <a:rect l="l" t="t" r="r" b="b"/>
            <a:pathLst>
              <a:path w="10605525" h="1034799">
                <a:moveTo>
                  <a:pt x="0" y="1034799"/>
                </a:moveTo>
                <a:lnTo>
                  <a:pt x="0" y="0"/>
                </a:lnTo>
                <a:lnTo>
                  <a:pt x="10605525" y="0"/>
                </a:lnTo>
                <a:lnTo>
                  <a:pt x="10605525" y="1034799"/>
                </a:lnTo>
                <a:lnTo>
                  <a:pt x="0" y="1034799"/>
                </a:lnTo>
              </a:path>
            </a:pathLst>
          </a:cu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000000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결론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6869" y="6309360"/>
            <a:ext cx="7877385" cy="548640"/>
          </a:xfrm>
          <a:custGeom>
            <a:avLst/>
            <a:gdLst/>
            <a:ahLst/>
            <a:cxnLst/>
            <a:rect l="l" t="t" r="r" b="b"/>
            <a:pathLst>
              <a:path w="7877385" h="548640">
                <a:moveTo>
                  <a:pt x="0" y="548640"/>
                </a:moveTo>
                <a:lnTo>
                  <a:pt x="0" y="0"/>
                </a:lnTo>
                <a:lnTo>
                  <a:pt x="7877385" y="0"/>
                </a:lnTo>
                <a:lnTo>
                  <a:pt x="7877385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Seek: AI 혁신과 주식 시장의 미래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49995" y="6308725"/>
            <a:ext cx="315913" cy="549275"/>
          </a:xfrm>
          <a:custGeom>
            <a:avLst/>
            <a:gdLst/>
            <a:ahLst/>
            <a:cxnLst/>
            <a:rect l="l" t="t" r="r" b="b"/>
            <a:pathLst>
              <a:path w="315913" h="549275">
                <a:moveTo>
                  <a:pt x="0" y="549275"/>
                </a:moveTo>
                <a:lnTo>
                  <a:pt x="0" y="0"/>
                </a:lnTo>
                <a:lnTo>
                  <a:pt x="315913" y="0"/>
                </a:lnTo>
                <a:lnTo>
                  <a:pt x="315913" y="549275"/>
                </a:lnTo>
                <a:lnTo>
                  <a:pt x="0" y="549275"/>
                </a:lnTo>
              </a:path>
            </a:pathLst>
          </a:custGeom>
          <a:noFill/>
          <a:ln/>
        </p:spPr>
        <p:txBody>
          <a:bodyPr wrap="square" lIns="0" tIns="0" rIns="28800" bIns="0" rtlCol="0" anchor="ctr"/>
          <a:lstStyle/>
          <a:p>
            <a:pPr marL="0" indent="0" algn="r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65691" y="4090948"/>
            <a:ext cx="3108960" cy="1920240"/>
          </a:xfrm>
          <a:custGeom>
            <a:avLst/>
            <a:gdLst/>
            <a:ahLst/>
            <a:cxnLst/>
            <a:rect l="l" t="t" r="r" b="b"/>
            <a:pathLst>
              <a:path w="3108960" h="1920240">
                <a:moveTo>
                  <a:pt x="0" y="1920240"/>
                </a:moveTo>
                <a:lnTo>
                  <a:pt x="0" y="0"/>
                </a:lnTo>
                <a:lnTo>
                  <a:pt x="3108960" y="0"/>
                </a:lnTo>
                <a:lnTo>
                  <a:pt x="3108960" y="1920240"/>
                </a:lnTo>
                <a:lnTo>
                  <a:pt x="0" y="1920240"/>
                </a:lnTo>
              </a:path>
            </a:pathLst>
          </a:cu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182880" tIns="457200" rIns="18288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Seek의 기술 발전은 AI 산업의 미래를 이끌 중요한 요소로 자리잡고 있습니다.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1531" y="3891760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2834640" y="0"/>
                </a:lnTo>
                <a:lnTo>
                  <a:pt x="3108960" y="274320"/>
                </a:lnTo>
                <a:lnTo>
                  <a:pt x="2834640" y="548640"/>
                </a:lnTo>
                <a:lnTo>
                  <a:pt x="0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미래 전망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2740" y="4090948"/>
            <a:ext cx="3108960" cy="1920240"/>
          </a:xfrm>
          <a:custGeom>
            <a:avLst/>
            <a:gdLst/>
            <a:ahLst/>
            <a:cxnLst/>
            <a:rect l="l" t="t" r="r" b="b"/>
            <a:pathLst>
              <a:path w="3108960" h="1920240">
                <a:moveTo>
                  <a:pt x="0" y="1920240"/>
                </a:moveTo>
                <a:lnTo>
                  <a:pt x="0" y="0"/>
                </a:lnTo>
                <a:lnTo>
                  <a:pt x="3108960" y="0"/>
                </a:lnTo>
                <a:lnTo>
                  <a:pt x="3108960" y="1920240"/>
                </a:lnTo>
                <a:lnTo>
                  <a:pt x="0" y="1920240"/>
                </a:lnTo>
              </a:path>
            </a:pathLst>
          </a:cu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182880" tIns="457200" rIns="18288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Seek는 독창적인 전략으로 시장 점유율을 빠르게 확대하고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10954" y="3891760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2834640" y="0"/>
                </a:lnTo>
                <a:lnTo>
                  <a:pt x="3108960" y="274320"/>
                </a:lnTo>
                <a:lnTo>
                  <a:pt x="2834640" y="548640"/>
                </a:lnTo>
                <a:lnTo>
                  <a:pt x="0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전략적 접근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42959" y="1730252"/>
            <a:ext cx="3108960" cy="1920240"/>
          </a:xfrm>
          <a:custGeom>
            <a:avLst/>
            <a:gdLst/>
            <a:ahLst/>
            <a:cxnLst/>
            <a:rect l="l" t="t" r="r" b="b"/>
            <a:pathLst>
              <a:path w="3108960" h="1920240">
                <a:moveTo>
                  <a:pt x="0" y="1920240"/>
                </a:moveTo>
                <a:lnTo>
                  <a:pt x="0" y="0"/>
                </a:lnTo>
                <a:lnTo>
                  <a:pt x="3108960" y="0"/>
                </a:lnTo>
                <a:lnTo>
                  <a:pt x="3108960" y="1920240"/>
                </a:lnTo>
                <a:lnTo>
                  <a:pt x="0" y="1920240"/>
                </a:lnTo>
              </a:path>
            </a:pathLst>
          </a:cu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182880" tIns="457200" rIns="18288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 발표 이후 주식 시장은 긍정적인 반응을 보이며 상승세를 기록하고 있습니다.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41173" y="1531064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2834640" y="0"/>
                </a:lnTo>
                <a:lnTo>
                  <a:pt x="3108960" y="274320"/>
                </a:lnTo>
                <a:lnTo>
                  <a:pt x="2834640" y="548640"/>
                </a:lnTo>
                <a:lnTo>
                  <a:pt x="0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주식 시장 반응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7370" y="1730252"/>
            <a:ext cx="3108960" cy="1920240"/>
          </a:xfrm>
          <a:custGeom>
            <a:avLst/>
            <a:gdLst/>
            <a:ahLst/>
            <a:cxnLst/>
            <a:rect l="l" t="t" r="r" b="b"/>
            <a:pathLst>
              <a:path w="3108960" h="1920240">
                <a:moveTo>
                  <a:pt x="0" y="1920240"/>
                </a:moveTo>
                <a:lnTo>
                  <a:pt x="0" y="0"/>
                </a:lnTo>
                <a:lnTo>
                  <a:pt x="3108960" y="0"/>
                </a:lnTo>
                <a:lnTo>
                  <a:pt x="3108960" y="1920240"/>
                </a:lnTo>
                <a:lnTo>
                  <a:pt x="0" y="1920240"/>
                </a:lnTo>
              </a:path>
            </a:pathLst>
          </a:cu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182880" tIns="457200" rIns="18288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Seek의 출현은 AI 업계의 경쟁 환경을 재편하고 있습니다.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3210" y="1531064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2834640" y="0"/>
                </a:lnTo>
                <a:lnTo>
                  <a:pt x="3108960" y="274320"/>
                </a:lnTo>
                <a:lnTo>
                  <a:pt x="2834640" y="548640"/>
                </a:lnTo>
                <a:lnTo>
                  <a:pt x="0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AI 업계 변화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1781" y="1730252"/>
            <a:ext cx="3108960" cy="1920240"/>
          </a:xfrm>
          <a:custGeom>
            <a:avLst/>
            <a:gdLst/>
            <a:ahLst/>
            <a:cxnLst/>
            <a:rect l="l" t="t" r="r" b="b"/>
            <a:pathLst>
              <a:path w="3108960" h="1920240">
                <a:moveTo>
                  <a:pt x="0" y="1920240"/>
                </a:moveTo>
                <a:lnTo>
                  <a:pt x="0" y="0"/>
                </a:lnTo>
                <a:lnTo>
                  <a:pt x="3108960" y="0"/>
                </a:lnTo>
                <a:lnTo>
                  <a:pt x="3108960" y="1920240"/>
                </a:lnTo>
                <a:lnTo>
                  <a:pt x="0" y="1920240"/>
                </a:lnTo>
              </a:path>
            </a:pathLst>
          </a:cu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182880" tIns="457200" rIns="18288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ppleSDGothicNeoM00" panose="02000503000000000000" pitchFamily="2" charset="-127"/>
                <a:ea typeface="AppleSDGothicNeoM00" panose="02000503000000000000" pitchFamily="2" charset="-127"/>
                <a:cs typeface="Figtree" pitchFamily="34" charset="-120"/>
              </a:rPr>
              <a:t>Deep Seek는 AI 기술의 새로운 기준을 제시하며 업계에 혁신을 가져왔습니다.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9995" y="1531064"/>
            <a:ext cx="3108960" cy="548640"/>
          </a:xfrm>
          <a:custGeom>
            <a:avLst/>
            <a:gdLst/>
            <a:ahLst/>
            <a:cxnLst/>
            <a:rect l="l" t="t" r="r" b="b"/>
            <a:pathLst>
              <a:path w="3108960" h="548640">
                <a:moveTo>
                  <a:pt x="0" y="0"/>
                </a:moveTo>
                <a:lnTo>
                  <a:pt x="2834640" y="0"/>
                </a:lnTo>
                <a:lnTo>
                  <a:pt x="3108960" y="274320"/>
                </a:lnTo>
                <a:lnTo>
                  <a:pt x="2834640" y="548640"/>
                </a:lnTo>
                <a:lnTo>
                  <a:pt x="0" y="54864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182880" tIns="91440" rIns="182880" bIns="9144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pleSDGothicNeoH00" panose="02000503000000000000" pitchFamily="2" charset="-127"/>
                <a:ea typeface="AppleSDGothicNeoH00" panose="02000503000000000000" pitchFamily="2" charset="-127"/>
                <a:cs typeface="Figtree SemiBold" pitchFamily="34" charset="-120"/>
              </a:rPr>
              <a:t>Deep Seek의 출현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0" y="548640"/>
                </a:moveTo>
                <a:lnTo>
                  <a:pt x="0" y="0"/>
                </a:lnTo>
                <a:lnTo>
                  <a:pt x="548640" y="0"/>
                </a:lnTo>
                <a:lnTo>
                  <a:pt x="548640" y="548640"/>
                </a:lnTo>
                <a:lnTo>
                  <a:pt x="0" y="548640"/>
                </a:lnTo>
              </a:path>
            </a:pathLst>
          </a:custGeom>
          <a:noFill/>
          <a:ln/>
        </p:spPr>
        <p:txBody>
          <a:bodyPr wrap="square" lIns="90000" tIns="46800" rIns="90000" bIns="4680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애플">
      <a:majorFont>
        <a:latin typeface="AppleSDGothicNeoEB00"/>
        <a:ea typeface="AppleSDGothicNeoEB00"/>
        <a:cs typeface=""/>
      </a:majorFont>
      <a:minorFont>
        <a:latin typeface="AppleSDGothicNeoL00"/>
        <a:ea typeface="AppleSDGothicNeoL00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905</Words>
  <Application>Microsoft Office PowerPoint</Application>
  <PresentationFormat>와이드스크린</PresentationFormat>
  <Paragraphs>171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AppleSDGothicNeoH00</vt:lpstr>
      <vt:lpstr>AppleSDGothicNeoM00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조 원종</cp:lastModifiedBy>
  <cp:revision>2</cp:revision>
  <dcterms:created xsi:type="dcterms:W3CDTF">2025-02-21T01:39:23Z</dcterms:created>
  <dcterms:modified xsi:type="dcterms:W3CDTF">2025-02-21T01:46:03Z</dcterms:modified>
</cp:coreProperties>
</file>